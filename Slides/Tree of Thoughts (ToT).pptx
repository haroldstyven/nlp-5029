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0" r:id="rId4"/>
  </p:sldMasterIdLst>
  <p:notesMasterIdLst>
    <p:notesMasterId r:id="rId21"/>
  </p:notesMasterIdLst>
  <p:sldIdLst>
    <p:sldId id="299" r:id="rId5"/>
    <p:sldId id="349" r:id="rId6"/>
    <p:sldId id="258" r:id="rId7"/>
    <p:sldId id="368" r:id="rId8"/>
    <p:sldId id="366" r:id="rId9"/>
    <p:sldId id="371" r:id="rId10"/>
    <p:sldId id="372" r:id="rId11"/>
    <p:sldId id="373" r:id="rId12"/>
    <p:sldId id="374" r:id="rId13"/>
    <p:sldId id="375" r:id="rId14"/>
    <p:sldId id="376" r:id="rId15"/>
    <p:sldId id="377" r:id="rId16"/>
    <p:sldId id="378" r:id="rId17"/>
    <p:sldId id="379" r:id="rId18"/>
    <p:sldId id="380" r:id="rId19"/>
    <p:sldId id="269" r:id="rId2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D939"/>
    <a:srgbClr val="A0CE3A"/>
    <a:srgbClr val="098559"/>
    <a:srgbClr val="8C51FF"/>
    <a:srgbClr val="1C8558"/>
    <a:srgbClr val="2CB5E0"/>
    <a:srgbClr val="2C4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5569DD-40D8-4FA7-ACB6-6C0C91C72F84}" v="6" dt="2024-11-16T19:09:52.2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67"/>
  </p:normalViewPr>
  <p:slideViewPr>
    <p:cSldViewPr snapToGrid="0">
      <p:cViewPr varScale="1">
        <p:scale>
          <a:sx n="120" d="100"/>
          <a:sy n="120" d="100"/>
        </p:scale>
        <p:origin x="1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C6114-657D-654C-9C03-F4F4C129F9FD}" type="datetimeFigureOut">
              <a:rPr lang="es-CO" smtClean="0"/>
              <a:t>17/04/26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98AE7-F905-BC42-9AC1-2B36184D10C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018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0A8421-663F-7D95-49AA-D9E38F87E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01D24D-9AE9-AEA3-50D8-C73181D93A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BB972E-0410-DE2E-C27E-3359646CA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17/04/26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CFDA9A-7642-BFD3-4E73-4FF87A7FF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B5E6E9-BBF8-697D-B19F-243EF46A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2189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38836-4584-8E4F-0566-843401B1C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0103D0-91BF-E2F3-2842-48B3C9D0C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FDD79E-0DBA-8EB2-0CC3-44131CACB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17/04/26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6809AE-5CB5-0571-ACB4-7C75AC972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8BA154-ED88-3671-0D4D-F0EFD6A87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9704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81B298-8DD2-E959-50C6-17C9853EA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C2CB68-EBF1-3F85-853D-0BA9CC4DC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FF3ADA-1739-D828-F9AF-01C2857B6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17/04/26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67CF81-C621-8A89-A64D-B184A58F2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E8A2D0-BCC7-9ED7-C256-73B467BEF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3093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78139-BE4D-70AA-182D-EAC1CA5C6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AAF5A4-092B-EB62-3482-26CB3E0E5D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CA6CF1-B1E2-19F2-16BC-2018B4F3B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C0FF04-7499-BB13-ACA7-B3AD2BD3C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17/04/26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5CF344-8963-579F-4D75-A2F94E66E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0E745FD-E45E-3BE5-117B-0DDD328D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0821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CAE26-8C36-250B-EC3E-E4DACBEC9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AEA0E9-14A0-8505-FACF-B2B476450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558E64-F210-A667-FFCC-575235C4A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6C4FEB3-08A7-C604-F4EE-155E51494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D9B529D-4F0F-1F26-9C0D-1DEE1F1E84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D45C9BE-B308-9E8D-5892-1CC80393C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17/04/26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7D503C1-F746-3C5A-CF56-684EE98C1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EC2CF3A-53DD-08B5-0E81-5D96C6E6A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564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C1C721-D91F-F2CB-2B00-CE78379F6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F7C619D-C1A4-8C74-DDAD-B2C61A4B4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17/04/26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EF00545-3031-8799-C516-EB54C31DF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92B211-EFAE-0CEC-EA1B-E4573E9AC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2057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7CD013E-162D-7734-701E-4009DC7A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17/04/26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16353AB-DE9C-1A43-9577-984E713C0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A8B39A-C133-9473-5CEE-BCBC9042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00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D8641-88AB-079C-6BF0-2F41CE417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0F430F-80D1-A1D5-C9C3-D2F335081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161A02D-EEFC-7571-7C04-3B299B3A2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565289-9797-ABCF-6B42-589ACDD95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17/04/26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EB4A33-16F8-2D65-8DB6-CAE3BC0D5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D76968-3CB4-4885-0C6B-BB8737F1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5351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C190B-2090-A8B1-A24F-72F20A905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F9263A7-A266-CD41-F1DE-23A6B7827B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AB1AF8-CA31-8CF1-8A9D-2E9559BE5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E3E4F7-E88E-0490-B97B-DDEB2539F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17/04/26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E79F95-B766-6736-0A10-5D0D15A25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D28E5B-BC02-6F17-6B61-A04145B62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5969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8CE79F-9826-2D10-BCE8-7129D42C5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CBA94F-81E6-2342-E8F8-A887158DB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07E55F-3D56-9B88-896D-5B3534400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17/04/26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5774C6-BC4D-B5D8-5432-F65E2460E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08E20C-77EF-88EC-00EF-F1825E8A7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4599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7EBD21-B368-00EC-7687-9893DA4B26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C29B95-AC51-42A7-09F8-234E1A696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AB50CD-A729-7821-10B2-F6CD4A9C4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17/04/26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EBA444-8A98-3CE3-0E03-BC49DEE35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2691C6-1C2C-40EE-05CC-217842F5C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4944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46B6B07-2CBF-4B78-9A09-5F42463C4BE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92399" y="1879600"/>
            <a:ext cx="3841750" cy="2114550"/>
          </a:xfrm>
          <a:custGeom>
            <a:avLst/>
            <a:gdLst>
              <a:gd name="connsiteX0" fmla="*/ 0 w 5762625"/>
              <a:gd name="connsiteY0" fmla="*/ 0 h 3171825"/>
              <a:gd name="connsiteX1" fmla="*/ 5762625 w 5762625"/>
              <a:gd name="connsiteY1" fmla="*/ 0 h 3171825"/>
              <a:gd name="connsiteX2" fmla="*/ 5762625 w 5762625"/>
              <a:gd name="connsiteY2" fmla="*/ 3171825 h 3171825"/>
              <a:gd name="connsiteX3" fmla="*/ 0 w 5762625"/>
              <a:gd name="connsiteY3" fmla="*/ 3171825 h 3171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2625" h="3171825">
                <a:moveTo>
                  <a:pt x="0" y="0"/>
                </a:moveTo>
                <a:lnTo>
                  <a:pt x="5762625" y="0"/>
                </a:lnTo>
                <a:lnTo>
                  <a:pt x="5762625" y="3171825"/>
                </a:lnTo>
                <a:lnTo>
                  <a:pt x="0" y="317182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7555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45EEEAB-7719-4626-B315-4294B9E25B1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79109" y="781889"/>
            <a:ext cx="2549415" cy="2556164"/>
          </a:xfrm>
          <a:custGeom>
            <a:avLst/>
            <a:gdLst>
              <a:gd name="connsiteX0" fmla="*/ 0 w 4166117"/>
              <a:gd name="connsiteY0" fmla="*/ 0 h 4177146"/>
              <a:gd name="connsiteX1" fmla="*/ 4166117 w 4166117"/>
              <a:gd name="connsiteY1" fmla="*/ 0 h 4177146"/>
              <a:gd name="connsiteX2" fmla="*/ 4166117 w 4166117"/>
              <a:gd name="connsiteY2" fmla="*/ 4177146 h 4177146"/>
              <a:gd name="connsiteX3" fmla="*/ 0 w 4166117"/>
              <a:gd name="connsiteY3" fmla="*/ 4177146 h 417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6117" h="4177146">
                <a:moveTo>
                  <a:pt x="0" y="0"/>
                </a:moveTo>
                <a:lnTo>
                  <a:pt x="4166117" y="0"/>
                </a:lnTo>
                <a:lnTo>
                  <a:pt x="4166117" y="4177146"/>
                </a:lnTo>
                <a:lnTo>
                  <a:pt x="0" y="417714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2EE616A-F533-4232-90E9-6112DDC30F7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43007" y="781889"/>
            <a:ext cx="2549415" cy="2556164"/>
          </a:xfrm>
          <a:custGeom>
            <a:avLst/>
            <a:gdLst>
              <a:gd name="connsiteX0" fmla="*/ 0 w 4166117"/>
              <a:gd name="connsiteY0" fmla="*/ 0 h 4177146"/>
              <a:gd name="connsiteX1" fmla="*/ 4166117 w 4166117"/>
              <a:gd name="connsiteY1" fmla="*/ 0 h 4177146"/>
              <a:gd name="connsiteX2" fmla="*/ 4166117 w 4166117"/>
              <a:gd name="connsiteY2" fmla="*/ 4177146 h 4177146"/>
              <a:gd name="connsiteX3" fmla="*/ 0 w 4166117"/>
              <a:gd name="connsiteY3" fmla="*/ 4177146 h 417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6117" h="4177146">
                <a:moveTo>
                  <a:pt x="0" y="0"/>
                </a:moveTo>
                <a:lnTo>
                  <a:pt x="4166117" y="0"/>
                </a:lnTo>
                <a:lnTo>
                  <a:pt x="4166117" y="4177146"/>
                </a:lnTo>
                <a:lnTo>
                  <a:pt x="0" y="417714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A796E4B-71B9-4B44-B646-877CFB5ECA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79109" y="3446580"/>
            <a:ext cx="2549415" cy="2556164"/>
          </a:xfrm>
          <a:custGeom>
            <a:avLst/>
            <a:gdLst>
              <a:gd name="connsiteX0" fmla="*/ 0 w 4166117"/>
              <a:gd name="connsiteY0" fmla="*/ 0 h 4177146"/>
              <a:gd name="connsiteX1" fmla="*/ 4166117 w 4166117"/>
              <a:gd name="connsiteY1" fmla="*/ 0 h 4177146"/>
              <a:gd name="connsiteX2" fmla="*/ 4166117 w 4166117"/>
              <a:gd name="connsiteY2" fmla="*/ 4177146 h 4177146"/>
              <a:gd name="connsiteX3" fmla="*/ 0 w 4166117"/>
              <a:gd name="connsiteY3" fmla="*/ 4177146 h 417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6117" h="4177146">
                <a:moveTo>
                  <a:pt x="0" y="0"/>
                </a:moveTo>
                <a:lnTo>
                  <a:pt x="4166117" y="0"/>
                </a:lnTo>
                <a:lnTo>
                  <a:pt x="4166117" y="4177146"/>
                </a:lnTo>
                <a:lnTo>
                  <a:pt x="0" y="417714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A2707B-B44F-401B-A93B-6F98E65E52E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43007" y="3446580"/>
            <a:ext cx="2549415" cy="2556164"/>
          </a:xfrm>
          <a:custGeom>
            <a:avLst/>
            <a:gdLst>
              <a:gd name="connsiteX0" fmla="*/ 0 w 4166117"/>
              <a:gd name="connsiteY0" fmla="*/ 0 h 4177146"/>
              <a:gd name="connsiteX1" fmla="*/ 4166117 w 4166117"/>
              <a:gd name="connsiteY1" fmla="*/ 0 h 4177146"/>
              <a:gd name="connsiteX2" fmla="*/ 4166117 w 4166117"/>
              <a:gd name="connsiteY2" fmla="*/ 4177146 h 4177146"/>
              <a:gd name="connsiteX3" fmla="*/ 0 w 4166117"/>
              <a:gd name="connsiteY3" fmla="*/ 4177146 h 417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6117" h="4177146">
                <a:moveTo>
                  <a:pt x="0" y="0"/>
                </a:moveTo>
                <a:lnTo>
                  <a:pt x="4166117" y="0"/>
                </a:lnTo>
                <a:lnTo>
                  <a:pt x="4166117" y="4177146"/>
                </a:lnTo>
                <a:lnTo>
                  <a:pt x="0" y="417714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48544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0368BC1-F251-51B7-F6B1-9AB3A1B81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0FD9A9-B43D-AADC-EDCE-EF46B4079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76E555-8DA1-1B1A-B2FD-60F9B958C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BE731-D7CA-5344-BA4A-B80A8B9133B8}" type="datetimeFigureOut">
              <a:rPr lang="es-CO" smtClean="0"/>
              <a:t>17/04/26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CEE945-561A-477F-2FCC-899EA7BD5D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5B27FA-FC44-A8B8-75F8-A2E05286E4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9973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E20C074-65F4-FCDD-2946-0748ED37E0AE}"/>
              </a:ext>
            </a:extLst>
          </p:cNvPr>
          <p:cNvSpPr txBox="1"/>
          <p:nvPr/>
        </p:nvSpPr>
        <p:spPr>
          <a:xfrm>
            <a:off x="1495463" y="4987981"/>
            <a:ext cx="55100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2C4293"/>
                </a:solidFill>
                <a:latin typeface="Impact" panose="020B0806030902050204" pitchFamily="34" charset="0"/>
                <a:cs typeface="Calibri" panose="020F0502020204030204" pitchFamily="34" charset="0"/>
              </a:rPr>
              <a:t>Harold Styven Lagares De Voz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1FFB257-423C-DCAA-B6F5-0678DC6CDB4E}"/>
              </a:ext>
            </a:extLst>
          </p:cNvPr>
          <p:cNvSpPr txBox="1"/>
          <p:nvPr/>
        </p:nvSpPr>
        <p:spPr>
          <a:xfrm>
            <a:off x="6705600" y="5267215"/>
            <a:ext cx="4937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contempla esta fuente alterna para usar en documentos como Word, Excel o PowerPoint.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7B0D79B-FF58-282F-F799-52E9599D41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/>
          <a:srcRect t="26124"/>
          <a:stretch/>
        </p:blipFill>
        <p:spPr>
          <a:xfrm>
            <a:off x="10903877" y="0"/>
            <a:ext cx="1288123" cy="186263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209810C-A256-CC53-7D8C-F78F996A33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/>
          <a:srcRect t="24483"/>
          <a:stretch/>
        </p:blipFill>
        <p:spPr>
          <a:xfrm>
            <a:off x="855232" y="0"/>
            <a:ext cx="2419273" cy="128729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5430B01-E4A4-32E2-FDBA-0C7323F4AFB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396" y="358737"/>
            <a:ext cx="774700" cy="8382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3C941D46-94E2-F0DF-B070-C76B2B4CF0B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0" y="4933143"/>
            <a:ext cx="1377696" cy="193010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89F5362D-D85E-33A3-7BCA-E44BD214F5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2441" y="5541009"/>
            <a:ext cx="1680919" cy="81275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6593AA9-1128-91EA-4ED0-9481490F6A59}"/>
              </a:ext>
            </a:extLst>
          </p:cNvPr>
          <p:cNvSpPr txBox="1"/>
          <p:nvPr/>
        </p:nvSpPr>
        <p:spPr>
          <a:xfrm>
            <a:off x="1495463" y="5537908"/>
            <a:ext cx="66014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>
                <a:solidFill>
                  <a:srgbClr val="2C4293"/>
                </a:solidFill>
                <a:latin typeface="Impact" panose="020B0806030902050204" pitchFamily="34" charset="0"/>
                <a:cs typeface="Calibri" panose="020F0502020204030204" pitchFamily="34" charset="0"/>
              </a:rPr>
              <a:t>Materia: NLP</a:t>
            </a:r>
          </a:p>
          <a:p>
            <a:r>
              <a:rPr lang="es-CO" sz="2000" dirty="0">
                <a:solidFill>
                  <a:srgbClr val="2C4293"/>
                </a:solidFill>
                <a:latin typeface="Impact" panose="020B0806030902050204" pitchFamily="34" charset="0"/>
                <a:cs typeface="Calibri" panose="020F0502020204030204" pitchFamily="34" charset="0"/>
              </a:rPr>
              <a:t>Profesor: Edwin Puertas, PhD.</a:t>
            </a:r>
          </a:p>
        </p:txBody>
      </p:sp>
      <p:sp>
        <p:nvSpPr>
          <p:cNvPr id="8" name="Google Shape;184;p24">
            <a:extLst>
              <a:ext uri="{FF2B5EF4-FFF2-40B4-BE49-F238E27FC236}">
                <a16:creationId xmlns:a16="http://schemas.microsoft.com/office/drawing/2014/main" id="{2C15F250-EC89-4A04-C668-BC0B17331343}"/>
              </a:ext>
            </a:extLst>
          </p:cNvPr>
          <p:cNvSpPr txBox="1"/>
          <p:nvPr/>
        </p:nvSpPr>
        <p:spPr>
          <a:xfrm>
            <a:off x="678588" y="2096634"/>
            <a:ext cx="10834823" cy="1415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r>
              <a:rPr lang="es-CO" sz="8800" b="1" dirty="0"/>
              <a:t>Tree </a:t>
            </a:r>
            <a:r>
              <a:rPr lang="es-CO" sz="8800" b="1" dirty="0" err="1"/>
              <a:t>of</a:t>
            </a:r>
            <a:r>
              <a:rPr lang="es-CO" sz="8800" b="1" dirty="0"/>
              <a:t> </a:t>
            </a:r>
            <a:r>
              <a:rPr lang="es-CO" sz="8800" b="1" dirty="0" err="1"/>
              <a:t>Thoughts</a:t>
            </a:r>
            <a:r>
              <a:rPr lang="es-CO" sz="8800" b="1" dirty="0"/>
              <a:t> (</a:t>
            </a:r>
            <a:r>
              <a:rPr lang="es-CO" sz="8800" b="1" dirty="0" err="1"/>
              <a:t>ToT</a:t>
            </a:r>
            <a:r>
              <a:rPr lang="es-CO" sz="8800" b="1" dirty="0"/>
              <a:t>)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024D8C1-9456-E36B-9BF6-57B038485841}"/>
              </a:ext>
            </a:extLst>
          </p:cNvPr>
          <p:cNvSpPr txBox="1"/>
          <p:nvPr/>
        </p:nvSpPr>
        <p:spPr>
          <a:xfrm>
            <a:off x="1495463" y="6299208"/>
            <a:ext cx="66014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>
                <a:solidFill>
                  <a:srgbClr val="2C4293"/>
                </a:solidFill>
                <a:latin typeface="Impact" panose="020B0806030902050204" pitchFamily="34" charset="0"/>
                <a:cs typeface="Calibri" panose="020F0502020204030204" pitchFamily="34" charset="0"/>
              </a:rPr>
              <a:t>Maestría en Ingeniería</a:t>
            </a:r>
          </a:p>
        </p:txBody>
      </p:sp>
      <p:sp>
        <p:nvSpPr>
          <p:cNvPr id="5" name="Google Shape;184;p24">
            <a:extLst>
              <a:ext uri="{FF2B5EF4-FFF2-40B4-BE49-F238E27FC236}">
                <a16:creationId xmlns:a16="http://schemas.microsoft.com/office/drawing/2014/main" id="{CB6EBA9E-EAD8-2AA4-2EF9-A6E8683F3570}"/>
              </a:ext>
            </a:extLst>
          </p:cNvPr>
          <p:cNvSpPr txBox="1"/>
          <p:nvPr/>
        </p:nvSpPr>
        <p:spPr>
          <a:xfrm>
            <a:off x="1299587" y="3791614"/>
            <a:ext cx="9592824" cy="677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/>
            <a:r>
              <a:rPr lang="es-CO" sz="2000" dirty="0"/>
              <a:t>Un paradigma que transforma cómo los </a:t>
            </a:r>
            <a:r>
              <a:rPr lang="es-CO" sz="2000" dirty="0" err="1"/>
              <a:t>LLMs</a:t>
            </a:r>
            <a:r>
              <a:rPr lang="es-CO" sz="2000" dirty="0"/>
              <a:t> razonan: de cadenas lineales a árboles de exploración deliberada.</a:t>
            </a:r>
          </a:p>
        </p:txBody>
      </p:sp>
    </p:spTree>
    <p:extLst>
      <p:ext uri="{BB962C8B-B14F-4D97-AF65-F5344CB8AC3E}">
        <p14:creationId xmlns:p14="http://schemas.microsoft.com/office/powerpoint/2010/main" val="1691570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0196-208F-BB21-8166-23BEE1DE9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3E41A1B8-9850-C9C8-AA10-CE34D2F613CA}"/>
              </a:ext>
            </a:extLst>
          </p:cNvPr>
          <p:cNvSpPr txBox="1"/>
          <p:nvPr/>
        </p:nvSpPr>
        <p:spPr>
          <a:xfrm>
            <a:off x="1502337" y="747336"/>
            <a:ext cx="9187319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4000" dirty="0">
                <a:solidFill>
                  <a:srgbClr val="2C4293"/>
                </a:solidFill>
                <a:latin typeface="Impact"/>
              </a:rPr>
              <a:t>Límites del Razonamiento Cognitivo en LLM</a:t>
            </a:r>
            <a:r>
              <a:rPr lang="es-ES" sz="4000" dirty="0">
                <a:solidFill>
                  <a:srgbClr val="2C4293"/>
                </a:solidFill>
                <a:latin typeface="Impact"/>
              </a:rPr>
              <a:t>.</a:t>
            </a:r>
            <a:endParaRPr lang="en-US" sz="4000" dirty="0">
              <a:solidFill>
                <a:srgbClr val="2C4293"/>
              </a:solidFill>
              <a:latin typeface="Impac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4637B16-C5D2-831E-B113-B140B3568185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722772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4DF8F5D-6E70-878F-1E3E-E29EA8E38AA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95942" y="0"/>
            <a:ext cx="774700" cy="838200"/>
          </a:xfrm>
          <a:prstGeom prst="rect">
            <a:avLst/>
          </a:prstGeom>
        </p:spPr>
      </p:pic>
      <p:sp>
        <p:nvSpPr>
          <p:cNvPr id="5" name="Google Shape;184;p24">
            <a:extLst>
              <a:ext uri="{FF2B5EF4-FFF2-40B4-BE49-F238E27FC236}">
                <a16:creationId xmlns:a16="http://schemas.microsoft.com/office/drawing/2014/main" id="{305C9D01-C71C-7E29-C079-E23A24F02C19}"/>
              </a:ext>
            </a:extLst>
          </p:cNvPr>
          <p:cNvSpPr txBox="1"/>
          <p:nvPr/>
        </p:nvSpPr>
        <p:spPr>
          <a:xfrm>
            <a:off x="621726" y="4734073"/>
            <a:ext cx="4858071" cy="190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16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IA Actual</a:t>
            </a:r>
          </a:p>
          <a:p>
            <a:pPr algn="just">
              <a:lnSpc>
                <a:spcPct val="150000"/>
              </a:lnSpc>
            </a:pP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Los </a:t>
            </a:r>
            <a:r>
              <a:rPr lang="es-ES" sz="16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LLMs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 actuales toman decisiones token a token, de izquierda a derecha. Este proceso estrictamente lineal impone limitaciones fundamentales en tareas cognitivamente complejas.</a:t>
            </a:r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29032572-CE9B-5D78-31DC-3EA637698219}"/>
              </a:ext>
            </a:extLst>
          </p:cNvPr>
          <p:cNvSpPr txBox="1"/>
          <p:nvPr/>
        </p:nvSpPr>
        <p:spPr>
          <a:xfrm>
            <a:off x="1823358" y="1936654"/>
            <a:ext cx="245480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419" sz="3200" dirty="0">
                <a:solidFill>
                  <a:srgbClr val="0070C0"/>
                </a:solidFill>
                <a:latin typeface="Impact"/>
              </a:rPr>
              <a:t>Sistema 1.</a:t>
            </a:r>
            <a:endParaRPr lang="en-US" sz="3200" dirty="0">
              <a:solidFill>
                <a:srgbClr val="0070C0"/>
              </a:solidFill>
              <a:latin typeface="Impact"/>
            </a:endParaRPr>
          </a:p>
        </p:txBody>
      </p:sp>
      <p:sp>
        <p:nvSpPr>
          <p:cNvPr id="9" name="Google Shape;184;p24">
            <a:extLst>
              <a:ext uri="{FF2B5EF4-FFF2-40B4-BE49-F238E27FC236}">
                <a16:creationId xmlns:a16="http://schemas.microsoft.com/office/drawing/2014/main" id="{5CE4E0C0-9C85-927B-284B-3384C6149A4E}"/>
              </a:ext>
            </a:extLst>
          </p:cNvPr>
          <p:cNvSpPr txBox="1"/>
          <p:nvPr/>
        </p:nvSpPr>
        <p:spPr>
          <a:xfrm>
            <a:off x="6316714" y="4734073"/>
            <a:ext cx="5033803" cy="190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16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El Objetivo</a:t>
            </a:r>
          </a:p>
          <a:p>
            <a:pPr algn="just">
              <a:lnSpc>
                <a:spcPct val="150000"/>
              </a:lnSpc>
            </a:pP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Esta cognición resuelve problemas complejos buscando a través de un espacio combinatorio. Mantiene y explora diversas alternativas, mira hacia delante (</a:t>
            </a:r>
            <a:r>
              <a:rPr lang="es-ES" sz="16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lookahead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) o retrocede (</a:t>
            </a:r>
            <a:r>
              <a:rPr lang="es-ES" sz="16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backtracking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) cuando es necesario.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C9051F44-0653-F2C3-AD32-497FEE08E988}"/>
              </a:ext>
            </a:extLst>
          </p:cNvPr>
          <p:cNvSpPr txBox="1"/>
          <p:nvPr/>
        </p:nvSpPr>
        <p:spPr>
          <a:xfrm>
            <a:off x="7460052" y="1936654"/>
            <a:ext cx="245480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419" sz="3200" dirty="0">
                <a:solidFill>
                  <a:srgbClr val="0070C0"/>
                </a:solidFill>
                <a:latin typeface="Impact"/>
              </a:rPr>
              <a:t>Sistema 2.</a:t>
            </a:r>
            <a:endParaRPr lang="en-US" sz="3200" dirty="0">
              <a:solidFill>
                <a:srgbClr val="0070C0"/>
              </a:solidFill>
              <a:latin typeface="Impact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2F3D234-A4F1-03E6-8A14-377E84682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017" y="2721475"/>
            <a:ext cx="3989487" cy="181255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C1E8B55-EDD1-B932-C808-887CDB7B0F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7282" y="2741076"/>
            <a:ext cx="3578387" cy="181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952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8599C2F-D7A5-A263-57D5-E6251B139DBF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5116223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DF5992A-C077-B625-D8AC-4DFD3C4D500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4700" cy="838200"/>
          </a:xfrm>
          <a:prstGeom prst="rect">
            <a:avLst/>
          </a:prstGeom>
        </p:spPr>
      </p:pic>
      <p:sp>
        <p:nvSpPr>
          <p:cNvPr id="5" name="TextBox 15">
            <a:extLst>
              <a:ext uri="{FF2B5EF4-FFF2-40B4-BE49-F238E27FC236}">
                <a16:creationId xmlns:a16="http://schemas.microsoft.com/office/drawing/2014/main" id="{B4110A96-FAC8-0471-6989-00C283D42748}"/>
              </a:ext>
            </a:extLst>
          </p:cNvPr>
          <p:cNvSpPr txBox="1"/>
          <p:nvPr/>
        </p:nvSpPr>
        <p:spPr>
          <a:xfrm>
            <a:off x="1385038" y="502795"/>
            <a:ext cx="9421923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6600" dirty="0">
                <a:solidFill>
                  <a:srgbClr val="2C4293"/>
                </a:solidFill>
                <a:latin typeface="Impact"/>
              </a:rPr>
              <a:t>La topología del prompting</a:t>
            </a:r>
            <a:endParaRPr lang="en-US" sz="66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E4EB249-C741-847B-D2F2-F888DAB2C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798" y="1977123"/>
            <a:ext cx="7772400" cy="3750153"/>
          </a:xfrm>
          <a:prstGeom prst="rect">
            <a:avLst/>
          </a:prstGeom>
        </p:spPr>
      </p:pic>
      <p:sp>
        <p:nvSpPr>
          <p:cNvPr id="7" name="Google Shape;184;p24">
            <a:extLst>
              <a:ext uri="{FF2B5EF4-FFF2-40B4-BE49-F238E27FC236}">
                <a16:creationId xmlns:a16="http://schemas.microsoft.com/office/drawing/2014/main" id="{2FF76262-C739-EC46-A3B2-7DB7954FDC0E}"/>
              </a:ext>
            </a:extLst>
          </p:cNvPr>
          <p:cNvSpPr txBox="1"/>
          <p:nvPr/>
        </p:nvSpPr>
        <p:spPr>
          <a:xfrm>
            <a:off x="1385037" y="6093608"/>
            <a:ext cx="9421923" cy="52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000" i="1" dirty="0"/>
              <a:t>Figure 1: </a:t>
            </a:r>
            <a:r>
              <a:rPr lang="es-ES" sz="1000" i="1" dirty="0" err="1"/>
              <a:t>Schematic</a:t>
            </a:r>
            <a:r>
              <a:rPr lang="es-ES" sz="1000" i="1" dirty="0"/>
              <a:t> </a:t>
            </a:r>
            <a:r>
              <a:rPr lang="es-ES" sz="1000" i="1" dirty="0" err="1"/>
              <a:t>illustrating</a:t>
            </a:r>
            <a:r>
              <a:rPr lang="es-ES" sz="1000" i="1" dirty="0"/>
              <a:t> </a:t>
            </a:r>
            <a:r>
              <a:rPr lang="es-ES" sz="1000" i="1" dirty="0" err="1"/>
              <a:t>various</a:t>
            </a:r>
            <a:r>
              <a:rPr lang="es-ES" sz="1000" i="1" dirty="0"/>
              <a:t> </a:t>
            </a:r>
            <a:r>
              <a:rPr lang="es-ES" sz="1000" i="1" dirty="0" err="1"/>
              <a:t>approaches</a:t>
            </a:r>
            <a:r>
              <a:rPr lang="es-ES" sz="1000" i="1" dirty="0"/>
              <a:t> </a:t>
            </a:r>
            <a:r>
              <a:rPr lang="es-ES" sz="1000" i="1" dirty="0" err="1"/>
              <a:t>to</a:t>
            </a:r>
            <a:r>
              <a:rPr lang="es-ES" sz="1000" i="1" dirty="0"/>
              <a:t> </a:t>
            </a:r>
            <a:r>
              <a:rPr lang="es-ES" sz="1000" i="1" dirty="0" err="1"/>
              <a:t>problem</a:t>
            </a:r>
            <a:r>
              <a:rPr lang="es-ES" sz="1000" i="1" dirty="0"/>
              <a:t> </a:t>
            </a:r>
            <a:r>
              <a:rPr lang="es-ES" sz="1000" i="1" dirty="0" err="1"/>
              <a:t>solving</a:t>
            </a:r>
            <a:r>
              <a:rPr lang="es-ES" sz="1000" i="1" dirty="0"/>
              <a:t> </a:t>
            </a:r>
            <a:r>
              <a:rPr lang="es-ES" sz="1000" i="1" dirty="0" err="1"/>
              <a:t>with</a:t>
            </a:r>
            <a:r>
              <a:rPr lang="es-ES" sz="1000" i="1" dirty="0"/>
              <a:t> </a:t>
            </a:r>
            <a:r>
              <a:rPr lang="es-ES" sz="1000" i="1" dirty="0" err="1"/>
              <a:t>LLMs</a:t>
            </a:r>
            <a:r>
              <a:rPr lang="es-ES" sz="1000" i="1" dirty="0"/>
              <a:t>. </a:t>
            </a:r>
            <a:r>
              <a:rPr lang="es-ES" sz="1000" i="1" dirty="0" err="1"/>
              <a:t>Each</a:t>
            </a:r>
            <a:r>
              <a:rPr lang="es-ES" sz="1000" i="1" dirty="0"/>
              <a:t> </a:t>
            </a:r>
            <a:r>
              <a:rPr lang="es-ES" sz="1000" i="1" dirty="0" err="1"/>
              <a:t>rectangle</a:t>
            </a:r>
            <a:r>
              <a:rPr lang="es-ES" sz="1000" i="1" dirty="0"/>
              <a:t> box </a:t>
            </a:r>
            <a:r>
              <a:rPr lang="es-ES" sz="1000" i="1" dirty="0" err="1"/>
              <a:t>represents</a:t>
            </a:r>
            <a:r>
              <a:rPr lang="es-ES" sz="1000" i="1" dirty="0"/>
              <a:t> a </a:t>
            </a:r>
            <a:r>
              <a:rPr lang="es-ES" sz="1000" i="1" dirty="0" err="1"/>
              <a:t>thought</a:t>
            </a:r>
            <a:r>
              <a:rPr lang="es-ES" sz="1000" i="1" dirty="0"/>
              <a:t>, </a:t>
            </a:r>
            <a:r>
              <a:rPr lang="es-ES" sz="1000" i="1" dirty="0" err="1"/>
              <a:t>which</a:t>
            </a:r>
            <a:r>
              <a:rPr lang="es-ES" sz="1000" i="1" dirty="0"/>
              <a:t> </a:t>
            </a:r>
            <a:r>
              <a:rPr lang="es-ES" sz="1000" i="1" dirty="0" err="1"/>
              <a:t>is</a:t>
            </a:r>
            <a:r>
              <a:rPr lang="es-ES" sz="1000" i="1" dirty="0"/>
              <a:t> a </a:t>
            </a:r>
            <a:r>
              <a:rPr lang="es-ES" sz="1000" i="1" dirty="0" err="1"/>
              <a:t>coherent</a:t>
            </a:r>
            <a:r>
              <a:rPr lang="es-ES" sz="1000" i="1" dirty="0"/>
              <a:t> </a:t>
            </a:r>
            <a:r>
              <a:rPr lang="es-ES" sz="1000" i="1" dirty="0" err="1"/>
              <a:t>language</a:t>
            </a:r>
            <a:r>
              <a:rPr lang="es-ES" sz="1000" i="1" dirty="0"/>
              <a:t> </a:t>
            </a:r>
            <a:r>
              <a:rPr lang="es-ES" sz="1000" i="1" dirty="0" err="1"/>
              <a:t>sequence</a:t>
            </a:r>
            <a:r>
              <a:rPr lang="es-ES" sz="1000" i="1" dirty="0"/>
              <a:t> </a:t>
            </a:r>
            <a:r>
              <a:rPr lang="es-ES" sz="1000" i="1" dirty="0" err="1"/>
              <a:t>that</a:t>
            </a:r>
            <a:r>
              <a:rPr lang="es-ES" sz="1000" i="1" dirty="0"/>
              <a:t> serves as </a:t>
            </a:r>
            <a:r>
              <a:rPr lang="es-ES" sz="1000" i="1" dirty="0" err="1"/>
              <a:t>an</a:t>
            </a:r>
            <a:r>
              <a:rPr lang="es-ES" sz="1000" i="1" dirty="0"/>
              <a:t> </a:t>
            </a:r>
            <a:r>
              <a:rPr lang="es-ES" sz="1000" i="1" dirty="0" err="1"/>
              <a:t>intermediate</a:t>
            </a:r>
            <a:r>
              <a:rPr lang="es-ES" sz="1000" i="1" dirty="0"/>
              <a:t> step </a:t>
            </a:r>
            <a:r>
              <a:rPr lang="es-ES" sz="1000" i="1" dirty="0" err="1"/>
              <a:t>toward</a:t>
            </a:r>
            <a:r>
              <a:rPr lang="es-ES" sz="1000" i="1" dirty="0"/>
              <a:t> </a:t>
            </a:r>
            <a:r>
              <a:rPr lang="es-ES" sz="1000" i="1" dirty="0" err="1"/>
              <a:t>problem</a:t>
            </a:r>
            <a:r>
              <a:rPr lang="es-ES" sz="1000" i="1" dirty="0"/>
              <a:t> </a:t>
            </a:r>
            <a:r>
              <a:rPr lang="es-ES" sz="1000" i="1" dirty="0" err="1"/>
              <a:t>solving</a:t>
            </a:r>
            <a:r>
              <a:rPr lang="es-ES" sz="1000" i="1" dirty="0"/>
              <a:t>.</a:t>
            </a:r>
            <a:endParaRPr lang="es-ES" sz="1000" b="1" i="1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9133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4F612-0EB8-0B34-B2B2-2D17F99ED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10CACF0F-B918-B0D5-AB3A-A0F738D98EB8}"/>
              </a:ext>
            </a:extLst>
          </p:cNvPr>
          <p:cNvSpPr txBox="1"/>
          <p:nvPr/>
        </p:nvSpPr>
        <p:spPr>
          <a:xfrm>
            <a:off x="2817573" y="838200"/>
            <a:ext cx="6556853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7200" dirty="0">
                <a:solidFill>
                  <a:srgbClr val="2C4293"/>
                </a:solidFill>
                <a:latin typeface="Impact"/>
              </a:rPr>
              <a:t>Tree of Thoughts</a:t>
            </a:r>
          </a:p>
          <a:p>
            <a:pPr algn="ctr"/>
            <a:endParaRPr lang="en-US" sz="72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82DBD3B-07C9-3B32-570F-10F0F3990D20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692875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E7AE9E6-6F97-E988-A8F4-A6D0C975014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8908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49A127A-71DA-DAC9-2497-5EB17776501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55" y="6019800"/>
            <a:ext cx="774700" cy="8382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30386EA-C1DE-9910-970A-2D30AB04D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075" y="2434652"/>
            <a:ext cx="9241850" cy="312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265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25D6E-E610-CDE1-0F46-1ACE461D9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2BC601DD-0E43-18CE-2083-D5F527046AD7}"/>
              </a:ext>
            </a:extLst>
          </p:cNvPr>
          <p:cNvSpPr txBox="1"/>
          <p:nvPr/>
        </p:nvSpPr>
        <p:spPr>
          <a:xfrm>
            <a:off x="1293237" y="1269507"/>
            <a:ext cx="960552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4800" dirty="0">
                <a:solidFill>
                  <a:srgbClr val="2C4293"/>
                </a:solidFill>
                <a:latin typeface="Impact"/>
              </a:rPr>
              <a:t>Orden libre y relaciones pragmáticas.</a:t>
            </a:r>
            <a:endParaRPr lang="en-US" sz="48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C356619-12DD-05C3-5963-3DE9D31B79C3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5116223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E2EBA66-9CDB-A01F-F03C-7CEBDC50B79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817453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EBA52E8-4D5D-370C-380E-EF1788BC587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9071" y="5363330"/>
            <a:ext cx="1656975" cy="1494670"/>
          </a:xfrm>
          <a:prstGeom prst="rect">
            <a:avLst/>
          </a:prstGeom>
        </p:spPr>
      </p:pic>
      <p:sp>
        <p:nvSpPr>
          <p:cNvPr id="5" name="Google Shape;184;p24">
            <a:extLst>
              <a:ext uri="{FF2B5EF4-FFF2-40B4-BE49-F238E27FC236}">
                <a16:creationId xmlns:a16="http://schemas.microsoft.com/office/drawing/2014/main" id="{D173FEDB-F43E-3091-57A3-ED8DDE07C3A6}"/>
              </a:ext>
            </a:extLst>
          </p:cNvPr>
          <p:cNvSpPr txBox="1"/>
          <p:nvPr/>
        </p:nvSpPr>
        <p:spPr>
          <a:xfrm>
            <a:off x="2982990" y="5363330"/>
            <a:ext cx="6875300" cy="892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El Análisis de Dependencias ignora el orden físico y mapea directamente la semántica. Un tipo de enlace, sin importar dónde esté la palabra.</a:t>
            </a:r>
            <a:endParaRPr lang="es-ES" dirty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C7F4B7F-D3CA-AC27-2D19-023E04F43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9190" y="2655592"/>
            <a:ext cx="796290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71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1C3A8-073E-E0A9-0A11-350ED27B7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7C2C647-5C0B-062C-7461-78EC709BBB14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5116223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70766A1-BA28-5417-A15C-619BD1CF85E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4700" cy="838200"/>
          </a:xfrm>
          <a:prstGeom prst="rect">
            <a:avLst/>
          </a:prstGeom>
        </p:spPr>
      </p:pic>
      <p:sp>
        <p:nvSpPr>
          <p:cNvPr id="5" name="TextBox 15">
            <a:extLst>
              <a:ext uri="{FF2B5EF4-FFF2-40B4-BE49-F238E27FC236}">
                <a16:creationId xmlns:a16="http://schemas.microsoft.com/office/drawing/2014/main" id="{A961A97D-9077-4C93-9B47-BBC9ACDA69BE}"/>
              </a:ext>
            </a:extLst>
          </p:cNvPr>
          <p:cNvSpPr txBox="1"/>
          <p:nvPr/>
        </p:nvSpPr>
        <p:spPr>
          <a:xfrm>
            <a:off x="1166556" y="288508"/>
            <a:ext cx="9858888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4400" dirty="0">
                <a:solidFill>
                  <a:srgbClr val="2C4293"/>
                </a:solidFill>
                <a:latin typeface="Impact"/>
              </a:rPr>
              <a:t>Formalización Matemática del Grafo.</a:t>
            </a:r>
            <a:endParaRPr lang="en-US" sz="44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sp>
        <p:nvSpPr>
          <p:cNvPr id="6" name="Google Shape;184;p24">
            <a:extLst>
              <a:ext uri="{FF2B5EF4-FFF2-40B4-BE49-F238E27FC236}">
                <a16:creationId xmlns:a16="http://schemas.microsoft.com/office/drawing/2014/main" id="{3189DDB0-4EFE-EE70-FF39-C594A0474E4C}"/>
              </a:ext>
            </a:extLst>
          </p:cNvPr>
          <p:cNvSpPr txBox="1"/>
          <p:nvPr/>
        </p:nvSpPr>
        <p:spPr>
          <a:xfrm>
            <a:off x="4274818" y="4748774"/>
            <a:ext cx="3642361" cy="1723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defRPr>
            </a:lvl1pPr>
          </a:lstStyle>
          <a:p>
            <a:r>
              <a:rPr lang="es-CO" sz="1800" b="1" dirty="0"/>
              <a:t>Reglas:</a:t>
            </a:r>
          </a:p>
          <a:p>
            <a:r>
              <a:rPr lang="es-CO" sz="1800" dirty="0"/>
              <a:t>1. Un solo nodo raíz.</a:t>
            </a:r>
          </a:p>
          <a:p>
            <a:r>
              <a:rPr lang="es-CO" sz="1800" dirty="0"/>
              <a:t>2. Un solo arco entrante por vértice.</a:t>
            </a:r>
          </a:p>
          <a:p>
            <a:r>
              <a:rPr lang="es-CO" sz="1800" dirty="0"/>
              <a:t>3. Totalmente acíclico (sin bucles).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F7A661D-4BA6-4646-0455-318F78F79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48" y="1755599"/>
            <a:ext cx="7810500" cy="229552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232D85D-959C-CA58-C98B-84C6948DD50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9071" y="5363330"/>
            <a:ext cx="1656975" cy="149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764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074DA-170E-F38E-D9A4-0AEDF60B6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00F39F9F-69B0-F702-F440-A15B0FC5E60E}"/>
              </a:ext>
            </a:extLst>
          </p:cNvPr>
          <p:cNvSpPr txBox="1"/>
          <p:nvPr/>
        </p:nvSpPr>
        <p:spPr>
          <a:xfrm>
            <a:off x="1779073" y="402357"/>
            <a:ext cx="8633851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4800" dirty="0">
                <a:solidFill>
                  <a:srgbClr val="2C4293"/>
                </a:solidFill>
                <a:latin typeface="Impact"/>
              </a:rPr>
              <a:t>¿Cómo resolvemos el problema computacionalmente?</a:t>
            </a:r>
            <a:endParaRPr lang="en-US" sz="48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8F0360F-0D2F-85BA-E82E-C477C6E4B14E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692875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9DC596A-7D11-211E-D0A6-C1F4965452A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8908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31B2FCC-FA6F-ED2C-AE14-EE131E26783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55" y="6019800"/>
            <a:ext cx="774700" cy="8382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CEEF073-821C-C09E-0C7E-505FCE894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110" y="2434652"/>
            <a:ext cx="810577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752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B5FF0-3553-999B-1CCD-77AAF0005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4FE2EE60-49F7-C210-EB9E-7BC6D28DFC5C}"/>
              </a:ext>
            </a:extLst>
          </p:cNvPr>
          <p:cNvSpPr txBox="1"/>
          <p:nvPr/>
        </p:nvSpPr>
        <p:spPr>
          <a:xfrm>
            <a:off x="717470" y="1111213"/>
            <a:ext cx="10757056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6600" dirty="0">
                <a:solidFill>
                  <a:srgbClr val="2C4293"/>
                </a:solidFill>
                <a:latin typeface="Impact"/>
              </a:rPr>
              <a:t> La Línea de Ensamblaje</a:t>
            </a:r>
            <a:endParaRPr lang="en-US" sz="66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038B676-B1DB-38A8-BDED-B153AD0FC5E8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692875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CEC9F2E-E08E-3EA0-4CD5-A93FF2AA37D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8908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E7234FA-034C-5E96-4BE9-29448FFBF81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55" y="6019800"/>
            <a:ext cx="774700" cy="8382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C99AD7C-6720-C0F4-C6C8-9E75E7903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48" y="2886075"/>
            <a:ext cx="8191500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419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8F03C-74F4-533B-9882-9308C6D24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E13A386A-F0C8-4588-9222-90347F127A84}"/>
              </a:ext>
            </a:extLst>
          </p:cNvPr>
          <p:cNvSpPr txBox="1"/>
          <p:nvPr/>
        </p:nvSpPr>
        <p:spPr>
          <a:xfrm>
            <a:off x="644597" y="1177175"/>
            <a:ext cx="10902793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5400" dirty="0">
                <a:solidFill>
                  <a:srgbClr val="2C4293"/>
                </a:solidFill>
                <a:latin typeface="Impact"/>
              </a:rPr>
              <a:t>Evitando el error local (Beam </a:t>
            </a:r>
            <a:r>
              <a:rPr lang="es-ES" sz="5400" dirty="0" err="1">
                <a:solidFill>
                  <a:srgbClr val="2C4293"/>
                </a:solidFill>
                <a:latin typeface="Impact"/>
              </a:rPr>
              <a:t>Search</a:t>
            </a:r>
            <a:r>
              <a:rPr lang="es-ES" sz="5400" dirty="0">
                <a:solidFill>
                  <a:srgbClr val="2C4293"/>
                </a:solidFill>
                <a:latin typeface="Impact"/>
              </a:rPr>
              <a:t>).</a:t>
            </a:r>
            <a:endParaRPr lang="en-US" sz="54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E6DACE6-95B6-3FF2-5064-944BF05F06DD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5116223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E7F3CAE-C139-69D4-2B9F-5FE4B19F793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9071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277FB01-AA63-F82A-1BD2-1B1E6EFE240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9071" y="5363330"/>
            <a:ext cx="1656975" cy="1494670"/>
          </a:xfrm>
          <a:prstGeom prst="rect">
            <a:avLst/>
          </a:prstGeom>
        </p:spPr>
      </p:pic>
      <p:sp>
        <p:nvSpPr>
          <p:cNvPr id="5" name="Google Shape;184;p24">
            <a:extLst>
              <a:ext uri="{FF2B5EF4-FFF2-40B4-BE49-F238E27FC236}">
                <a16:creationId xmlns:a16="http://schemas.microsoft.com/office/drawing/2014/main" id="{E1C68B55-2C46-2533-9E1A-6CE4C043723A}"/>
              </a:ext>
            </a:extLst>
          </p:cNvPr>
          <p:cNvSpPr txBox="1"/>
          <p:nvPr/>
        </p:nvSpPr>
        <p:spPr>
          <a:xfrm>
            <a:off x="1212611" y="2304308"/>
            <a:ext cx="9766767" cy="98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Un algoritmo </a:t>
            </a:r>
            <a:r>
              <a:rPr lang="es-ES" sz="20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greedy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 estándar no puede retroceder si se equivoca. La solución: Buscar en el espacio de decisiones históricas.</a:t>
            </a: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5866E69-6DA9-845B-81EE-FEF5ACD15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9330" y="3573870"/>
            <a:ext cx="7553325" cy="514350"/>
          </a:xfrm>
          <a:prstGeom prst="rect">
            <a:avLst/>
          </a:prstGeom>
        </p:spPr>
      </p:pic>
      <p:sp>
        <p:nvSpPr>
          <p:cNvPr id="8" name="Google Shape;184;p24">
            <a:extLst>
              <a:ext uri="{FF2B5EF4-FFF2-40B4-BE49-F238E27FC236}">
                <a16:creationId xmlns:a16="http://schemas.microsoft.com/office/drawing/2014/main" id="{69B5C8B1-9973-02B9-781B-905BF4FD613D}"/>
              </a:ext>
            </a:extLst>
          </p:cNvPr>
          <p:cNvSpPr txBox="1"/>
          <p:nvPr/>
        </p:nvSpPr>
        <p:spPr>
          <a:xfrm>
            <a:off x="3229143" y="4640068"/>
            <a:ext cx="5733698" cy="1446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"En lugar de elegir ciegamente la mejor acción en un solo paso, el sistema puntúa y mantiene vivas las 'K' mejores rutas históricas simultáneamente."</a:t>
            </a:r>
            <a:endParaRPr lang="es-ES" sz="2000" b="1" dirty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89868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BD24D-AAE6-F2D0-F697-6F0042937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8D165562-4225-3246-3BEF-8C5EF0AF9390}"/>
              </a:ext>
            </a:extLst>
          </p:cNvPr>
          <p:cNvSpPr txBox="1"/>
          <p:nvPr/>
        </p:nvSpPr>
        <p:spPr>
          <a:xfrm>
            <a:off x="1573806" y="1187187"/>
            <a:ext cx="9044387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6600" dirty="0">
                <a:solidFill>
                  <a:srgbClr val="2C4293"/>
                </a:solidFill>
                <a:latin typeface="Impact"/>
              </a:rPr>
              <a:t>Pero ¿qué pasa si el verbo y su sujeto están separados por 15 palabras?</a:t>
            </a:r>
            <a:endParaRPr lang="en-US" sz="66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4918050-966E-F894-A50A-08652794C6EC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692875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8F3562D-5BAE-7742-8159-B823F056FA1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8908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DF24210-59EB-5026-5F12-4E51FE8B056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55" y="6019800"/>
            <a:ext cx="774700" cy="838200"/>
          </a:xfrm>
          <a:prstGeom prst="rect">
            <a:avLst/>
          </a:prstGeom>
        </p:spPr>
      </p:pic>
      <p:sp>
        <p:nvSpPr>
          <p:cNvPr id="5" name="Google Shape;184;p24">
            <a:extLst>
              <a:ext uri="{FF2B5EF4-FFF2-40B4-BE49-F238E27FC236}">
                <a16:creationId xmlns:a16="http://schemas.microsoft.com/office/drawing/2014/main" id="{6E6F0906-EAE8-C0A7-AC5E-DD529FBF8737}"/>
              </a:ext>
            </a:extLst>
          </p:cNvPr>
          <p:cNvSpPr txBox="1"/>
          <p:nvPr/>
        </p:nvSpPr>
        <p:spPr>
          <a:xfrm>
            <a:off x="2132728" y="5587554"/>
            <a:ext cx="7926541" cy="52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dirty="0"/>
              <a:t>Las transiciones fallan en distancias largas. El modelo pierde el contexto.</a:t>
            </a:r>
          </a:p>
        </p:txBody>
      </p:sp>
    </p:spTree>
    <p:extLst>
      <p:ext uri="{BB962C8B-B14F-4D97-AF65-F5344CB8AC3E}">
        <p14:creationId xmlns:p14="http://schemas.microsoft.com/office/powerpoint/2010/main" val="2093355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C2FB9-82FF-68B4-9323-8F3192F81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9E62B280-D83F-F47E-7DB3-7588416FABB0}"/>
              </a:ext>
            </a:extLst>
          </p:cNvPr>
          <p:cNvSpPr txBox="1"/>
          <p:nvPr/>
        </p:nvSpPr>
        <p:spPr>
          <a:xfrm>
            <a:off x="717472" y="655075"/>
            <a:ext cx="10757056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4800" dirty="0">
                <a:solidFill>
                  <a:srgbClr val="2C4293"/>
                </a:solidFill>
                <a:latin typeface="Impact"/>
              </a:rPr>
              <a:t>Visión Global: El Árbol de Expansión Máxima (MST).</a:t>
            </a:r>
            <a:endParaRPr lang="en-US" sz="48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57A15A1-4B98-D8E8-949E-D6FD396FD645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692875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ED30475-B044-36A7-F48A-EC7752AC2EF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8908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02EBAB-915B-D51D-E002-FBBB22D1041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55" y="6019800"/>
            <a:ext cx="774700" cy="8382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B681CBA-0820-9501-3405-268CF514B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268" y="2496800"/>
            <a:ext cx="9193464" cy="324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973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405A9-79AD-F833-B6CD-56779FBCC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B94249ED-A575-E78D-53B1-3C01ED0FCD7F}"/>
              </a:ext>
            </a:extLst>
          </p:cNvPr>
          <p:cNvSpPr txBox="1"/>
          <p:nvPr/>
        </p:nvSpPr>
        <p:spPr>
          <a:xfrm>
            <a:off x="253464" y="1096275"/>
            <a:ext cx="1168505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5400" dirty="0">
                <a:solidFill>
                  <a:srgbClr val="2C4293"/>
                </a:solidFill>
                <a:latin typeface="Impact"/>
              </a:rPr>
              <a:t>Factorización de Bordes (Edge-</a:t>
            </a:r>
            <a:r>
              <a:rPr lang="es-ES" sz="5400" dirty="0" err="1">
                <a:solidFill>
                  <a:srgbClr val="2C4293"/>
                </a:solidFill>
                <a:latin typeface="Impact"/>
              </a:rPr>
              <a:t>Factored</a:t>
            </a:r>
            <a:r>
              <a:rPr lang="es-ES" sz="5400" dirty="0">
                <a:solidFill>
                  <a:srgbClr val="2C4293"/>
                </a:solidFill>
                <a:latin typeface="Impact"/>
              </a:rPr>
              <a:t>)</a:t>
            </a:r>
            <a:endParaRPr lang="en-US" sz="54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0430635-8402-6925-F058-5DF6D7369AFA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5116223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B6593F8-CD4B-94AB-701E-2DA491C3A9C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9071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E34951E-DB90-BB90-0A6A-6A7F41A8177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9071" y="5363330"/>
            <a:ext cx="1656975" cy="1494670"/>
          </a:xfrm>
          <a:prstGeom prst="rect">
            <a:avLst/>
          </a:prstGeom>
        </p:spPr>
      </p:pic>
      <p:sp>
        <p:nvSpPr>
          <p:cNvPr id="5" name="Google Shape;184;p24">
            <a:extLst>
              <a:ext uri="{FF2B5EF4-FFF2-40B4-BE49-F238E27FC236}">
                <a16:creationId xmlns:a16="http://schemas.microsoft.com/office/drawing/2014/main" id="{6338D949-6BFA-7819-2F1C-D97E92A1E52A}"/>
              </a:ext>
            </a:extLst>
          </p:cNvPr>
          <p:cNvSpPr txBox="1"/>
          <p:nvPr/>
        </p:nvSpPr>
        <p:spPr>
          <a:xfrm>
            <a:off x="2152412" y="5761725"/>
            <a:ext cx="7887150" cy="52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¿De dónde sale el Score? De </a:t>
            </a:r>
            <a:r>
              <a:rPr lang="es-ES" sz="20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embeddings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 neuronales, distancia y posición.</a:t>
            </a: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Google Shape;184;p24">
            <a:extLst>
              <a:ext uri="{FF2B5EF4-FFF2-40B4-BE49-F238E27FC236}">
                <a16:creationId xmlns:a16="http://schemas.microsoft.com/office/drawing/2014/main" id="{6FEB2490-D381-97A9-BBEC-7DBAED668C9D}"/>
              </a:ext>
            </a:extLst>
          </p:cNvPr>
          <p:cNvSpPr txBox="1"/>
          <p:nvPr/>
        </p:nvSpPr>
        <p:spPr>
          <a:xfrm>
            <a:off x="2408512" y="4479257"/>
            <a:ext cx="7374949" cy="98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El mejor árbol posible es simplemente aquel donde la suma de las puntuaciones de cada conexión individual es la más alta.</a:t>
            </a:r>
            <a:endParaRPr lang="es-ES" sz="2000" b="1" dirty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3424ACA-4FEE-E552-A8D5-4BB5873BD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4636" y="2568393"/>
            <a:ext cx="6362700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69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715D6-4051-7CE5-4CB9-8901551B5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6C76F432-452D-D43D-EBAC-CC8BAE076911}"/>
              </a:ext>
            </a:extLst>
          </p:cNvPr>
          <p:cNvSpPr txBox="1"/>
          <p:nvPr/>
        </p:nvSpPr>
        <p:spPr>
          <a:xfrm>
            <a:off x="-104340" y="1125772"/>
            <a:ext cx="1240065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4800">
                <a:solidFill>
                  <a:srgbClr val="2C4293"/>
                </a:solidFill>
                <a:latin typeface="Impact"/>
              </a:rPr>
              <a:t>La Revolución Neuronal (Biaffine Attention)</a:t>
            </a:r>
            <a:endParaRPr lang="en-US" sz="48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43ED48B-042F-2935-3614-16C01633CFC6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5116223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2AC3BFD-F152-8B2F-D08A-1B46F5FAFEB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9071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5D682C7-F6DC-99EE-D32C-CC6F7E6114E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9071" y="5363330"/>
            <a:ext cx="1656975" cy="1494670"/>
          </a:xfrm>
          <a:prstGeom prst="rect">
            <a:avLst/>
          </a:prstGeom>
        </p:spPr>
      </p:pic>
      <p:sp>
        <p:nvSpPr>
          <p:cNvPr id="5" name="Google Shape;184;p24">
            <a:extLst>
              <a:ext uri="{FF2B5EF4-FFF2-40B4-BE49-F238E27FC236}">
                <a16:creationId xmlns:a16="http://schemas.microsoft.com/office/drawing/2014/main" id="{C254E4C7-4050-C63F-27FB-D0FB2F8F1CE5}"/>
              </a:ext>
            </a:extLst>
          </p:cNvPr>
          <p:cNvSpPr txBox="1"/>
          <p:nvPr/>
        </p:nvSpPr>
        <p:spPr>
          <a:xfrm>
            <a:off x="2152411" y="5127544"/>
            <a:ext cx="7887150" cy="1446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Ya no extraemos reglas gramaticales a mano. El modelo multiplica matricialmente el vector del 'Posible Núcleo' (x) con el del 'Posible Dependiente' (y) para calcular la probabilidad real de conexión.</a:t>
            </a: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D9C997F-BF17-EBF7-B354-472D21497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706" y="2594708"/>
            <a:ext cx="9440560" cy="213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905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B0678-9A5E-1B1F-3094-E8B5FF4D4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4C6C762C-04BC-EADA-EE94-2006F6C29460}"/>
              </a:ext>
            </a:extLst>
          </p:cNvPr>
          <p:cNvSpPr txBox="1"/>
          <p:nvPr/>
        </p:nvSpPr>
        <p:spPr>
          <a:xfrm>
            <a:off x="1886772" y="838200"/>
            <a:ext cx="8185623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4800" dirty="0">
                <a:solidFill>
                  <a:srgbClr val="2C4293"/>
                </a:solidFill>
                <a:latin typeface="Impact"/>
              </a:rPr>
              <a:t>¿Cómo sabemos que funciona? (Transparencia y Métricas).</a:t>
            </a:r>
            <a:endParaRPr lang="en-US" sz="48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52B87F2-B208-A08D-E15A-009ED68825E4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692875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9C76C4C-242B-F257-79BC-3D418D9287E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8908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F03EF14-DC79-114B-EF34-D046BCF720A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55" y="6019800"/>
            <a:ext cx="774700" cy="8382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799C171-C3A5-30E5-4472-F8B7B0B56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1908" y="2721353"/>
            <a:ext cx="851535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291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0FCE2-19AC-A273-C315-F6A3D1365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A114E73E-9BEA-C847-7A04-D814717CBC9D}"/>
              </a:ext>
            </a:extLst>
          </p:cNvPr>
          <p:cNvSpPr txBox="1"/>
          <p:nvPr/>
        </p:nvSpPr>
        <p:spPr>
          <a:xfrm>
            <a:off x="1141931" y="1404317"/>
            <a:ext cx="9908137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5400" dirty="0">
                <a:solidFill>
                  <a:srgbClr val="2C4293"/>
                </a:solidFill>
                <a:latin typeface="Impact"/>
              </a:rPr>
              <a:t>"Entre cada palabra y sus vecinas, la mente percibe conexiones. Estas conexiones juntas forman el andamiaje de la frase."</a:t>
            </a:r>
            <a:endParaRPr lang="en-US" sz="54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E729D98-EEFE-CE1B-83F4-46F9B5E8C01C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985472" y="371550"/>
            <a:ext cx="1638355" cy="7747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0D50154-340E-3819-B6AE-A8EABEB4B4A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8908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7B7FB74-D401-03C3-BBCA-800A599D967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55" y="6019800"/>
            <a:ext cx="774700" cy="838200"/>
          </a:xfrm>
          <a:prstGeom prst="rect">
            <a:avLst/>
          </a:prstGeom>
        </p:spPr>
      </p:pic>
      <p:sp>
        <p:nvSpPr>
          <p:cNvPr id="5" name="Google Shape;184;p24">
            <a:extLst>
              <a:ext uri="{FF2B5EF4-FFF2-40B4-BE49-F238E27FC236}">
                <a16:creationId xmlns:a16="http://schemas.microsoft.com/office/drawing/2014/main" id="{D73B656E-4679-777B-4FD8-CE3AB6FEA253}"/>
              </a:ext>
            </a:extLst>
          </p:cNvPr>
          <p:cNvSpPr txBox="1"/>
          <p:nvPr/>
        </p:nvSpPr>
        <p:spPr>
          <a:xfrm>
            <a:off x="2531370" y="4930489"/>
            <a:ext cx="7129259" cy="52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1" dirty="0"/>
              <a:t>Lucien </a:t>
            </a:r>
            <a:r>
              <a:rPr lang="es-ES" sz="2000" i="1" dirty="0" err="1"/>
              <a:t>Tesnière</a:t>
            </a:r>
            <a:r>
              <a:rPr lang="es-ES" sz="2000" i="1" dirty="0"/>
              <a:t>, 1959. (Padre de la Gramática de Dependencias).</a:t>
            </a:r>
          </a:p>
        </p:txBody>
      </p:sp>
    </p:spTree>
    <p:extLst>
      <p:ext uri="{BB962C8B-B14F-4D97-AF65-F5344CB8AC3E}">
        <p14:creationId xmlns:p14="http://schemas.microsoft.com/office/powerpoint/2010/main" val="1395359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E3A9555-1955-9C62-393C-B3A38B5A70B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74362" y="4885543"/>
            <a:ext cx="2843276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ts val="6000"/>
              </a:lnSpc>
            </a:pPr>
            <a:r>
              <a:rPr lang="es-CO" sz="6000" dirty="0">
                <a:solidFill>
                  <a:schemeClr val="bg1"/>
                </a:solidFill>
                <a:latin typeface="Impact"/>
              </a:rPr>
              <a:t>Gracias</a:t>
            </a: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51506FE-C507-BB3C-694B-0F19FF9AD3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50" y="1674876"/>
            <a:ext cx="4813300" cy="23622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AB8F5EC-A9C0-98B1-6C28-8DA784CE457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747317"/>
            <a:ext cx="1219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>
                <a:solidFill>
                  <a:schemeClr val="bg1"/>
                </a:solidFill>
              </a:rPr>
              <a:t>Copyright © 2023. Todos los derechos reservados Universidad Tecnológica de Bolívar.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FF1C63A-E5E0-7A39-B967-7B7A7A29F4D1}"/>
              </a:ext>
            </a:extLst>
          </p:cNvPr>
          <p:cNvSpPr/>
          <p:nvPr/>
        </p:nvSpPr>
        <p:spPr>
          <a:xfrm>
            <a:off x="0" y="6181344"/>
            <a:ext cx="12192000" cy="676656"/>
          </a:xfrm>
          <a:prstGeom prst="rect">
            <a:avLst/>
          </a:prstGeom>
          <a:solidFill>
            <a:srgbClr val="2CB5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A10C435F-1190-6E65-AC06-8AD9AEE321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508" y="6015435"/>
            <a:ext cx="6954983" cy="100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0954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8146226B0B1104099D95D8764676805" ma:contentTypeVersion="16" ma:contentTypeDescription="Crear nuevo documento." ma:contentTypeScope="" ma:versionID="ce3f3361d1d2aa1b2afc60a7d55da0f9">
  <xsd:schema xmlns:xsd="http://www.w3.org/2001/XMLSchema" xmlns:xs="http://www.w3.org/2001/XMLSchema" xmlns:p="http://schemas.microsoft.com/office/2006/metadata/properties" xmlns:ns3="5edded67-cd83-4c17-a3f5-774703606493" xmlns:ns4="7bfb1de7-6bb8-46bc-b228-c0516d189876" targetNamespace="http://schemas.microsoft.com/office/2006/metadata/properties" ma:root="true" ma:fieldsID="270f9b5b5528d531ca472c830a71cb93" ns3:_="" ns4:_="">
    <xsd:import namespace="5edded67-cd83-4c17-a3f5-774703606493"/>
    <xsd:import namespace="7bfb1de7-6bb8-46bc-b228-c0516d18987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dded67-cd83-4c17-a3f5-7747036064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fb1de7-6bb8-46bc-b228-c0516d18987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edded67-cd83-4c17-a3f5-774703606493" xsi:nil="true"/>
  </documentManagement>
</p:properties>
</file>

<file path=customXml/itemProps1.xml><?xml version="1.0" encoding="utf-8"?>
<ds:datastoreItem xmlns:ds="http://schemas.openxmlformats.org/officeDocument/2006/customXml" ds:itemID="{B1213C5C-EC78-4FA6-A2AB-BC265950387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A6FEDB-C3C1-4A58-9057-4B32BF64E8DA}">
  <ds:schemaRefs>
    <ds:schemaRef ds:uri="5edded67-cd83-4c17-a3f5-774703606493"/>
    <ds:schemaRef ds:uri="7bfb1de7-6bb8-46bc-b228-c0516d18987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D7FACE3-D175-4B78-B366-5F5586E22D1C}">
  <ds:schemaRefs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5edded67-cd83-4c17-a3f5-774703606493"/>
    <ds:schemaRef ds:uri="7bfb1de7-6bb8-46bc-b228-c0516d189876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1830</TotalTime>
  <Words>500</Words>
  <Application>Microsoft Macintosh PowerPoint</Application>
  <PresentationFormat>Panorámica</PresentationFormat>
  <Paragraphs>42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Impact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Gina Vega</dc:creator>
  <cp:lastModifiedBy>Harold Styven Lagares De Voz</cp:lastModifiedBy>
  <cp:revision>8</cp:revision>
  <dcterms:created xsi:type="dcterms:W3CDTF">2023-09-13T01:22:55Z</dcterms:created>
  <dcterms:modified xsi:type="dcterms:W3CDTF">2026-04-17T21:17:27Z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0x01010008146226B0B1104099D95D8764676805</vt:lpwstr>
  </property>
</Properties>
</file>